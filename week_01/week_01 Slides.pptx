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95507AB-35CC-4C92-A472-96AB7FA04EA4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18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224" y="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236739"/>
            <a:ext cx="10515600" cy="842645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/>
              <a:t>Hotel Overbooking MDP</a:t>
            </a:r>
            <a:endParaRPr lang="en-US" altLang="zh-CN" sz="2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79384"/>
            <a:ext cx="10515600" cy="497531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Goal:</a:t>
            </a:r>
            <a:r>
              <a:rPr lang="en-US" sz="1600" dirty="0">
                <a:cs typeface="Arial" panose="020B0604020202020204" pitchFamily="34" charset="0"/>
              </a:rPr>
              <a:t> Maximize expected revenue (room revenue − overbooking penalty)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State (S):</a:t>
            </a:r>
            <a:r>
              <a:rPr lang="en-US" sz="1600" dirty="0">
                <a:cs typeface="Arial" panose="020B0604020202020204" pitchFamily="34" charset="0"/>
              </a:rPr>
              <a:t> S = (t, n) where t=days left until check-in, n=current bookings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Action (A):</a:t>
            </a:r>
            <a:r>
              <a:rPr lang="en-US" sz="1600" dirty="0">
                <a:cs typeface="Arial" panose="020B0604020202020204" pitchFamily="34" charset="0"/>
              </a:rPr>
              <a:t> Accept / Reject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Transition (t &gt; 0):</a:t>
            </a:r>
            <a:endParaRPr lang="en-US" sz="1600" dirty="0"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400" b="1" dirty="0">
                <a:cs typeface="Arial" panose="020B0604020202020204" pitchFamily="34" charset="0"/>
              </a:rPr>
              <a:t>Cancellations:</a:t>
            </a:r>
            <a:r>
              <a:rPr lang="en-US" sz="1400" dirty="0">
                <a:cs typeface="Arial" panose="020B0604020202020204" pitchFamily="34" charset="0"/>
              </a:rPr>
              <a:t> c ~ Bin(n, 0.01), n_c = n − c</a:t>
            </a:r>
          </a:p>
          <a:p>
            <a:pPr lvl="1">
              <a:lnSpc>
                <a:spcPct val="110000"/>
              </a:lnSpc>
            </a:pPr>
            <a:r>
              <a:rPr lang="en-US" sz="1400" b="1" dirty="0">
                <a:cs typeface="Arial" panose="020B0604020202020204" pitchFamily="34" charset="0"/>
              </a:rPr>
              <a:t>If Accept and n_c &lt; 120: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1400" b="1" dirty="0">
                <a:cs typeface="Arial" panose="020B0604020202020204" pitchFamily="34" charset="0"/>
              </a:rPr>
              <a:t>with prob 0.8, n' = n_c + 1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1400" b="1" dirty="0">
                <a:cs typeface="Arial" panose="020B0604020202020204" pitchFamily="34" charset="0"/>
              </a:rPr>
              <a:t>with prob 0.2, n' = n_c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1400" b="1" dirty="0">
                <a:cs typeface="Arial" panose="020B0604020202020204" pitchFamily="34" charset="0"/>
              </a:rPr>
              <a:t>    </a:t>
            </a:r>
            <a:r>
              <a:rPr lang="en-US" altLang="zh-CN" sz="1400" b="1" dirty="0">
                <a:cs typeface="Arial" panose="020B0604020202020204" pitchFamily="34" charset="0"/>
              </a:rPr>
              <a:t>Else: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cs typeface="Arial" panose="020B0604020202020204" pitchFamily="34" charset="0"/>
              </a:rPr>
              <a:t>             </a:t>
            </a:r>
            <a:r>
              <a:rPr lang="en-US" altLang="zh-CN" sz="1400" b="1" dirty="0">
                <a:cs typeface="Arial" panose="020B0604020202020204" pitchFamily="34" charset="0"/>
              </a:rPr>
              <a:t>n' = n_c</a:t>
            </a:r>
            <a:endParaRPr lang="en-US" sz="1400" b="1" dirty="0"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400" b="1" dirty="0">
                <a:cs typeface="Arial" panose="020B0604020202020204" pitchFamily="34" charset="0"/>
              </a:rPr>
              <a:t>If Reject:</a:t>
            </a:r>
            <a:r>
              <a:rPr lang="en-US" sz="1400" dirty="0">
                <a:cs typeface="Arial" panose="020B0604020202020204" pitchFamily="34" charset="0"/>
              </a:rPr>
              <a:t> </a:t>
            </a:r>
            <a:r>
              <a:rPr lang="zh-CN" altLang="en-US" sz="1400" dirty="0">
                <a:cs typeface="Arial" panose="020B0604020202020204" pitchFamily="34" charset="0"/>
              </a:rPr>
              <a:t> </a:t>
            </a:r>
            <a:r>
              <a:rPr lang="en-US" sz="1400" dirty="0">
                <a:cs typeface="Arial" panose="020B0604020202020204" pitchFamily="34" charset="0"/>
              </a:rPr>
              <a:t>n' = n_c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Reward:</a:t>
            </a:r>
            <a:endParaRPr lang="en-US" sz="1600" dirty="0"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600" b="1" dirty="0">
                <a:cs typeface="Arial" panose="020B0604020202020204" pitchFamily="34" charset="0"/>
              </a:rPr>
              <a:t>Intermediate (t &gt; 0):</a:t>
            </a:r>
            <a:r>
              <a:rPr lang="en-US" sz="1600" dirty="0">
                <a:cs typeface="Arial" panose="020B0604020202020204" pitchFamily="34" charset="0"/>
              </a:rPr>
              <a:t> R = 0</a:t>
            </a:r>
          </a:p>
          <a:p>
            <a:pPr lvl="1">
              <a:lnSpc>
                <a:spcPct val="110000"/>
              </a:lnSpc>
            </a:pPr>
            <a:r>
              <a:rPr lang="en-US" sz="1600" b="1" dirty="0">
                <a:cs typeface="Arial" panose="020B0604020202020204" pitchFamily="34" charset="0"/>
              </a:rPr>
              <a:t>Terminal (t = 0):</a:t>
            </a:r>
            <a:r>
              <a:rPr lang="en-US" sz="1600" dirty="0">
                <a:cs typeface="Arial" panose="020B0604020202020204" pitchFamily="34" charset="0"/>
              </a:rPr>
              <a:t> 100 · min(X, 100) − 250 · max(X − 100, 0), where X ~ Bin(n, 0.95)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cs typeface="Arial" panose="020B0604020202020204" pitchFamily="34" charset="0"/>
              </a:rPr>
              <a:t>Bellman Equation:</a:t>
            </a:r>
            <a:endParaRPr lang="en-US" sz="16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b="1" dirty="0"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A0BD10-50C1-1CD7-C43F-556C4DAC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70" y="5888794"/>
            <a:ext cx="6847114" cy="581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520"/>
          </a:xfrm>
        </p:spPr>
        <p:txBody>
          <a:bodyPr/>
          <a:lstStyle/>
          <a:p>
            <a:pPr algn="ctr"/>
            <a:r>
              <a:rPr lang="en-US" altLang="zh-CN" sz="3200"/>
              <a:t>Policy Iteration Results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31240"/>
            <a:ext cx="6675755" cy="52755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1" dirty="0"/>
              <a:t>Parameters: </a:t>
            </a:r>
            <a:r>
              <a:rPr lang="en-US" sz="1600" dirty="0"/>
              <a:t>Capacity=100, MaxOverbook=20, Price=100, Penalty=250</a:t>
            </a:r>
          </a:p>
          <a:p>
            <a:pPr marL="0" indent="0">
              <a:buNone/>
            </a:pPr>
            <a:r>
              <a:rPr lang="en-US" altLang="zh-CN" sz="1600" b="1" dirty="0"/>
              <a:t>Policy (Sample Decisions):</a:t>
            </a:r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r>
              <a:rPr lang="en-US" altLang="zh-CN" sz="1600" b="1" dirty="0"/>
              <a:t>Insights:</a:t>
            </a:r>
          </a:p>
          <a:p>
            <a:pPr lvl="0"/>
            <a:r>
              <a:rPr lang="en-US" altLang="zh-CN" sz="1400" dirty="0">
                <a:sym typeface="+mn-ea"/>
              </a:rPr>
              <a:t>Early: accept aggressively</a:t>
            </a:r>
          </a:p>
          <a:p>
            <a:pPr lvl="1">
              <a:buFont typeface="Wingdings" panose="05000000000000000000" charset="0"/>
              <a:buChar char="ü"/>
            </a:pPr>
            <a:r>
              <a:rPr lang="en-US" sz="1400" dirty="0"/>
              <a:t>In the early days, the policy accepts bookings beyond capacity because cancellations and no-shows reduce the expected number of guests who actually</a:t>
            </a:r>
            <a:r>
              <a:rPr lang="zh-CN" altLang="en-US" sz="1400" dirty="0"/>
              <a:t> </a:t>
            </a:r>
            <a:r>
              <a:rPr lang="en-US" sz="1400" dirty="0"/>
              <a:t> arrive</a:t>
            </a:r>
            <a:r>
              <a:rPr lang="en-US" sz="1600" dirty="0"/>
              <a:t>.</a:t>
            </a:r>
          </a:p>
          <a:p>
            <a:r>
              <a:rPr lang="en-US" sz="1400" dirty="0"/>
              <a:t>Near check-in: allow only slight overbooking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dirty="0"/>
              <a:t>As the check-in day approaches, uncertainty decreases and the policy becomes more conservative, allowing only a few extra bookings.</a:t>
            </a:r>
            <a:endParaRPr lang="en-US" sz="1600" dirty="0"/>
          </a:p>
          <a:p>
            <a:r>
              <a:rPr lang="en-US" sz="1400" dirty="0"/>
              <a:t>Expected revenue from empty hotel: $1,978.28</a:t>
            </a:r>
          </a:p>
          <a:p>
            <a:pPr lvl="1">
              <a:buFont typeface="Wingdings" pitchFamily="2" charset="2"/>
              <a:buChar char="ü"/>
            </a:pPr>
            <a:r>
              <a:rPr lang="en-US" sz="1400" dirty="0"/>
              <a:t>The expected total profit starting from zero bookings is $1,978.28.</a:t>
            </a:r>
            <a:endParaRPr lang="en-US" altLang="zh-CN" sz="1400" b="1" dirty="0"/>
          </a:p>
          <a:p>
            <a:pPr marL="457200" lvl="1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lvl="0" indent="0">
              <a:buNone/>
            </a:pPr>
            <a:endParaRPr lang="en-US" altLang="zh-CN" sz="1600" b="1" dirty="0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013460" y="1892300"/>
          <a:ext cx="6998970" cy="1402080"/>
        </p:xfrm>
        <a:graphic>
          <a:graphicData uri="http://schemas.openxmlformats.org/drawingml/2006/table">
            <a:tbl>
              <a:tblPr firstRow="1">
                <a:tableStyleId>{D95507AB-35CC-4C92-A472-96AB7FA04EA4}</a:tableStyleId>
              </a:tblPr>
              <a:tblGrid>
                <a:gridCol w="1166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Days Left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A55401F-D189-DCB5-58F5-578FFB998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287" y="1329869"/>
            <a:ext cx="3360176" cy="2099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E334CA-02F3-4B5C-F767-31D461607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1" y="4050355"/>
            <a:ext cx="3649662" cy="22564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15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1*99"/>
  <p:tag name="TABLE_ENDDRAG_RECT" val="73*146*551*9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281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WPS</vt:lpstr>
      <vt:lpstr>Hotel Overbooking MDP</vt:lpstr>
      <vt:lpstr>Policy Iteration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zhao</dc:creator>
  <cp:lastModifiedBy>Yan Zhao</cp:lastModifiedBy>
  <cp:revision>20</cp:revision>
  <dcterms:created xsi:type="dcterms:W3CDTF">2023-08-09T12:44:00Z</dcterms:created>
  <dcterms:modified xsi:type="dcterms:W3CDTF">2026-02-11T23:30:34Z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AB57C7984517442B9B0821984F9BF8BA_12</vt:lpwstr>
  </property>
</Properties>
</file>