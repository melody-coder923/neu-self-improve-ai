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76" y="2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53434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4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371600"/>
            <a:ext cx="4114800" cy="4114800"/>
          </a:xfrm>
          <a:prstGeom prst="ellipse">
            <a:avLst/>
          </a:prstGeom>
          <a:solidFill>
            <a:srgbClr val="2A9D8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4114800"/>
            <a:ext cx="2560320" cy="2560320"/>
          </a:xfrm>
          <a:prstGeom prst="ellipse">
            <a:avLst/>
          </a:prstGeom>
          <a:solidFill>
            <a:srgbClr val="E9C46A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463040"/>
            <a:ext cx="164592" cy="2103120"/>
          </a:xfrm>
          <a:prstGeom prst="rect">
            <a:avLst/>
          </a:prstGeom>
          <a:solidFill>
            <a:srgbClr val="2A9D8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502920"/>
            <a:ext cx="1371600" cy="256032"/>
          </a:xfrm>
          <a:prstGeom prst="roundRect">
            <a:avLst>
              <a:gd name="adj" fmla="val 14286"/>
            </a:avLst>
          </a:prstGeom>
          <a:solidFill>
            <a:srgbClr val="2A9D8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52120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ICLR 2025 Reproduction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9144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RuAG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411480" y="17830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Learned-Rule-Augmented Generation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11480" y="230428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E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Large Language Models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11480" y="2971800"/>
            <a:ext cx="5029200" cy="0"/>
          </a:xfrm>
          <a:prstGeom prst="line">
            <a:avLst/>
          </a:prstGeom>
          <a:noFill/>
          <a:ln w="19050">
            <a:solidFill>
              <a:srgbClr val="E9C4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1546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Document-Level Relation Extraction  ·  DWIE Dataset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B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MCTS Rule Discovery  ·  Knowledge Injection  ·  Mistral Small 24B</a:t>
            </a:r>
          </a:p>
          <a:p>
            <a:pPr marL="0" indent="0">
              <a:buNone/>
            </a:pPr>
            <a:r>
              <a:rPr lang="en-US" altLang="zh-CN" sz="1200" dirty="0">
                <a:solidFill>
                  <a:srgbClr val="A8B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Zhenyu Dai, Yan Zhao, Jason Wang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16263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4773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—  Reproduction Report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4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2A9D8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0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Workflow: How to Implement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0" y="14630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8B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paper to code — four stages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6032" y="896112"/>
            <a:ext cx="201168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2"/>
            </a:solidFill>
            <a:prstDash val="solid"/>
          </a:ln>
          <a:effectLst>
            <a:outerShdw blurRad="101600" dist="25400" dir="8100000" algn="bl" rotWithShape="0">
              <a:srgbClr val="1A2D3A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896112"/>
            <a:ext cx="2011680" cy="502920"/>
          </a:xfrm>
          <a:prstGeom prst="rect">
            <a:avLst/>
          </a:prstGeom>
          <a:solidFill>
            <a:srgbClr val="2A9D8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932688"/>
            <a:ext cx="658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14400" y="950976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Infrastructure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472184"/>
            <a:ext cx="1792224" cy="201168"/>
          </a:xfrm>
          <a:prstGeom prst="roundRect">
            <a:avLst>
              <a:gd name="adj" fmla="val 18182"/>
            </a:avLst>
          </a:prstGeom>
          <a:solidFill>
            <a:srgbClr val="E3F2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472184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7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§4.1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20624" y="1792224"/>
            <a:ext cx="1773936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DWIE dataset: 802 docs, 23,130 entities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 (ruag.db) with 7 tables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Tables: documents, entities, relations,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predictions, rules, relation_types, filtered_docs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data_loader.py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42032" y="896112"/>
            <a:ext cx="201168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2"/>
            </a:solidFill>
            <a:prstDash val="solid"/>
          </a:ln>
          <a:effectLst>
            <a:outerShdw blurRad="101600" dist="25400" dir="8100000" algn="bl" rotWithShape="0">
              <a:srgbClr val="1A2D3A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42032" y="896112"/>
            <a:ext cx="2011680" cy="502920"/>
          </a:xfrm>
          <a:prstGeom prst="rect">
            <a:avLst/>
          </a:prstGeom>
          <a:solidFill>
            <a:srgbClr val="E9C4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42032" y="932688"/>
            <a:ext cx="658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200400" y="950976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Baseline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651760" y="1472184"/>
            <a:ext cx="1792224" cy="201168"/>
          </a:xfrm>
          <a:prstGeom prst="roundRect">
            <a:avLst>
              <a:gd name="adj" fmla="val 18182"/>
            </a:avLst>
          </a:prstGeom>
          <a:solidFill>
            <a:srgbClr val="E3F2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472184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7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§4.3 + Fig. A1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706624" y="1792224"/>
            <a:ext cx="1773936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A1 prompt: task desc, 20 relation defs,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list, document content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= 0, top-p = 1 (Table A5)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exact-match validation against entity list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Tested: Mistral Small, Llama 3.1, Gemini 2.0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baseline_vanilla.py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828032" y="896112"/>
            <a:ext cx="201168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2"/>
            </a:solidFill>
            <a:prstDash val="solid"/>
          </a:ln>
          <a:effectLst>
            <a:outerShdw blurRad="101600" dist="25400" dir="8100000" algn="bl" rotWithShape="0">
              <a:srgbClr val="1A2D3A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28032" y="896112"/>
            <a:ext cx="2011680" cy="502920"/>
          </a:xfrm>
          <a:prstGeom prst="rect">
            <a:avLst/>
          </a:prstGeom>
          <a:solidFill>
            <a:srgbClr val="E76F5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28032" y="932688"/>
            <a:ext cx="658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486400" y="950976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MCTS Rule Discovery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37760" y="1472184"/>
            <a:ext cx="1792224" cy="201168"/>
          </a:xfrm>
          <a:prstGeom prst="roundRect">
            <a:avLst>
              <a:gd name="adj" fmla="val 18182"/>
            </a:avLst>
          </a:prstGeom>
          <a:solidFill>
            <a:srgbClr val="E3F2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1472184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7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§3.1–3.2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992624" y="1792224"/>
            <a:ext cx="1773936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space filtered by entity co-occurrence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UCT formula: Q/N + C·√(ln N_parent / N)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phases: Select → Expand → Simulate → Backprop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C=0.7, 100 rollouts, max rule length = 2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mcts.py, rule_node.py, rule_evaluator.py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114032" y="896112"/>
            <a:ext cx="201168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2"/>
            </a:solidFill>
            <a:prstDash val="solid"/>
          </a:ln>
          <a:effectLst>
            <a:outerShdw blurRad="101600" dist="25400" dir="8100000" algn="bl" rotWithShape="0">
              <a:srgbClr val="1A2D3A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114032" y="896112"/>
            <a:ext cx="2011680" cy="502920"/>
          </a:xfrm>
          <a:prstGeom prst="rect">
            <a:avLst/>
          </a:prstGeom>
          <a:solidFill>
            <a:srgbClr val="6C7E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14032" y="932688"/>
            <a:ext cx="658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7772400" y="950976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Injection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223760" y="1472184"/>
            <a:ext cx="1792224" cy="201168"/>
          </a:xfrm>
          <a:prstGeom prst="roundRect">
            <a:avLst>
              <a:gd name="adj" fmla="val 18182"/>
            </a:avLst>
          </a:prstGeom>
          <a:solidFill>
            <a:srgbClr val="E3F2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23760" y="1472184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7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§3.3 + Fig. A1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278624" y="1792224"/>
            <a:ext cx="1773936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rules after cleaning (precision ≤ 0.5 removed)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translated to natural language via rules2text.py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Injected into prompt at {rules} placeholder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derives additional triples via rules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baseline_ruag.py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286000" y="2884932"/>
            <a:ext cx="201168" cy="0"/>
          </a:xfrm>
          <a:prstGeom prst="line">
            <a:avLst/>
          </a:prstGeom>
          <a:noFill/>
          <a:ln w="19050">
            <a:solidFill>
              <a:srgbClr val="A8BDC8"/>
            </a:solidFill>
            <a:prstDash val="solid"/>
            <a:tailEnd type="arrow"/>
          </a:ln>
        </p:spPr>
      </p:sp>
      <p:sp>
        <p:nvSpPr>
          <p:cNvPr id="35" name="Shape 33"/>
          <p:cNvSpPr/>
          <p:nvPr/>
        </p:nvSpPr>
        <p:spPr>
          <a:xfrm>
            <a:off x="4572000" y="2884932"/>
            <a:ext cx="201168" cy="0"/>
          </a:xfrm>
          <a:prstGeom prst="line">
            <a:avLst/>
          </a:prstGeom>
          <a:noFill/>
          <a:ln w="19050">
            <a:solidFill>
              <a:srgbClr val="A8BDC8"/>
            </a:solidFill>
            <a:prstDash val="solid"/>
            <a:tailEnd type="arrow"/>
          </a:ln>
        </p:spPr>
      </p:sp>
      <p:sp>
        <p:nvSpPr>
          <p:cNvPr id="36" name="Shape 34"/>
          <p:cNvSpPr/>
          <p:nvPr/>
        </p:nvSpPr>
        <p:spPr>
          <a:xfrm>
            <a:off x="6858000" y="2884932"/>
            <a:ext cx="201168" cy="0"/>
          </a:xfrm>
          <a:prstGeom prst="line">
            <a:avLst/>
          </a:prstGeom>
          <a:noFill/>
          <a:ln w="19050">
            <a:solidFill>
              <a:srgbClr val="A8BDC8"/>
            </a:solidFill>
            <a:prstDash val="solid"/>
            <a:tailEnd type="arrow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4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E76F5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00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Hurdles &amp; Implementation Divergence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868680"/>
            <a:ext cx="274320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2"/>
            </a:solidFill>
            <a:prstDash val="solid"/>
          </a:ln>
          <a:effectLst>
            <a:outerShdw blurRad="101600" dist="25400" dir="8100000" algn="bl" rotWithShape="0">
              <a:srgbClr val="1A2D3A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868680"/>
            <a:ext cx="64008" cy="4114800"/>
          </a:xfrm>
          <a:prstGeom prst="rect">
            <a:avLst/>
          </a:prstGeom>
          <a:solidFill>
            <a:srgbClr val="2A9D8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0624" y="960120"/>
            <a:ext cx="2505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Adaptation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20624" y="1179576"/>
            <a:ext cx="2505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Adapted Prompt Design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0624" y="1554480"/>
            <a:ext cx="2414016" cy="0"/>
          </a:xfrm>
          <a:prstGeom prst="line">
            <a:avLst/>
          </a:prstGeom>
          <a:noFill/>
          <a:ln w="6350">
            <a:solidFill>
              <a:srgbClr val="E0EA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" y="1618488"/>
            <a:ext cx="2505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Observation: Figure A1 is GPT-4 optimised. Mistral Small has 3 failure modes: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20624" y="2103120"/>
            <a:ext cx="250545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Imprecise names — outputs “Bush” not “George W. Bush”; strict exact-match loses a TP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Misses -x variants — sees Israeli but does not output citizen_of-x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Mixes extracted &amp; rule-derived triples in wrong format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20624" y="3172968"/>
            <a:ext cx="2414016" cy="0"/>
          </a:xfrm>
          <a:prstGeom prst="line">
            <a:avLst/>
          </a:prstGeom>
          <a:noFill/>
          <a:ln w="6350">
            <a:solidFill>
              <a:srgbClr val="E0EA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" y="3227832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— Two adjustments on top of Fig. A1: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20624" y="3538728"/>
            <a:ext cx="250545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→"/>
            </a:pPr>
            <a:r>
              <a:rPr lang="en-US" sz="8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Adj. 1 — CRITICAL RULES: exact entity names, -x variants, gpe0 relation explained</a:t>
            </a:r>
            <a:endParaRPr lang="en-US" sz="850" dirty="0"/>
          </a:p>
          <a:p>
            <a:pPr marL="342900" indent="-342900">
              <a:spcAft>
                <a:spcPts val="500"/>
              </a:spcAft>
              <a:buSzPct val="100000"/>
              <a:buChar char="→"/>
            </a:pPr>
            <a:r>
              <a:rPr lang="en-US" sz="8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Adj. 2 — Full few-shot example: 5 direct + 1 rule-derived triple, each with //Reason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46120" y="868680"/>
            <a:ext cx="274320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2"/>
            </a:solidFill>
            <a:prstDash val="solid"/>
          </a:ln>
          <a:effectLst>
            <a:outerShdw blurRad="101600" dist="25400" dir="8100000" algn="bl" rotWithShape="0">
              <a:srgbClr val="1A2D3A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46120" y="868680"/>
            <a:ext cx="64008" cy="4114800"/>
          </a:xfrm>
          <a:prstGeom prst="rect">
            <a:avLst/>
          </a:prstGeom>
          <a:solidFill>
            <a:srgbClr val="E76F5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10712" y="960120"/>
            <a:ext cx="2505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Divergence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410712" y="1179576"/>
            <a:ext cx="2505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Storage +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A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 Handling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410712" y="1737360"/>
            <a:ext cx="2414016" cy="0"/>
          </a:xfrm>
          <a:prstGeom prst="line">
            <a:avLst/>
          </a:prstGeom>
          <a:noFill/>
          <a:ln w="6350">
            <a:solidFill>
              <a:srgbClr val="E0EA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10712" y="1801368"/>
            <a:ext cx="2414016" cy="219456"/>
          </a:xfrm>
          <a:prstGeom prst="roundRect">
            <a:avLst>
              <a:gd name="adj" fmla="val 16667"/>
            </a:avLst>
          </a:prstGeom>
          <a:solidFill>
            <a:srgbClr val="FDEC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65576" y="1810512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Hurdle 1 — API Rate Limits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10712" y="2057400"/>
            <a:ext cx="2505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APIs hit 429 errors frequently.</a:t>
            </a:r>
            <a:endParaRPr lang="en-US" sz="850" dirty="0"/>
          </a:p>
          <a:p>
            <a:pPr marL="0" indent="0">
              <a:buNone/>
            </a:pPr>
            <a:r>
              <a:rPr lang="en-US" sz="850" i="1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free tier: 2 req/min  ·  Groq: 500K tokens/day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410712" y="2496312"/>
            <a:ext cx="25054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mechanism in </a:t>
            </a:r>
            <a:r>
              <a:rPr lang="en-US" sz="850" b="1" dirty="0">
                <a:solidFill>
                  <a:srgbClr val="188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call_llm()</a:t>
            </a:r>
            <a:r>
              <a:rPr lang="en-US" sz="8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on 429 → auto-wait 15s → retry (max 5×, no manual intervention)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410712" y="2971800"/>
            <a:ext cx="2414016" cy="0"/>
          </a:xfrm>
          <a:prstGeom prst="line">
            <a:avLst/>
          </a:prstGeom>
          <a:noFill/>
          <a:ln w="6350">
            <a:solidFill>
              <a:srgbClr val="E0EA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10712" y="3044952"/>
            <a:ext cx="2414016" cy="219456"/>
          </a:xfrm>
          <a:prstGeom prst="roundRect">
            <a:avLst>
              <a:gd name="adj" fmla="val 16667"/>
            </a:avLst>
          </a:prstGeom>
          <a:solidFill>
            <a:srgbClr val="E8F5E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65576" y="3054096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Hurdle 2 — Data Persistence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410712" y="3300984"/>
            <a:ext cx="2505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code uses JSON — intermediate results lost on crash.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410712" y="3648456"/>
            <a:ext cx="25054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</a:t>
            </a:r>
            <a:r>
              <a:rPr lang="en-US" sz="850" b="1" dirty="0">
                <a:solidFill>
                  <a:srgbClr val="188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ruag.db</a:t>
            </a:r>
            <a:r>
              <a:rPr lang="en-US" sz="8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): predictions committed after each doc. Network dropped at doc 65 — first 64 results safe.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236208" y="868680"/>
            <a:ext cx="274320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2"/>
            </a:solidFill>
            <a:prstDash val="solid"/>
          </a:ln>
          <a:effectLst>
            <a:outerShdw blurRad="101600" dist="25400" dir="8100000" algn="bl" rotWithShape="0">
              <a:srgbClr val="1A2D3A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36208" y="868680"/>
            <a:ext cx="64008" cy="4114800"/>
          </a:xfrm>
          <a:prstGeom prst="rect">
            <a:avLst/>
          </a:prstGeom>
          <a:solidFill>
            <a:srgbClr val="E9C4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960120"/>
            <a:ext cx="2505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400800" y="1179576"/>
            <a:ext cx="2505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Space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A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400800" y="1737360"/>
            <a:ext cx="2414016" cy="0"/>
          </a:xfrm>
          <a:prstGeom prst="line">
            <a:avLst/>
          </a:prstGeom>
          <a:noFill/>
          <a:ln w="6350">
            <a:solidFill>
              <a:srgbClr val="E0EA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0" y="1801368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A5 — Entity Co-occurrence Filtering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400800" y="2130552"/>
            <a:ext cx="2505456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filtering, MCTS is infeasible on real datasets — exponential blowup</a:t>
            </a:r>
            <a:endParaRPr lang="en-US" sz="8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relation types before filtering</a:t>
            </a:r>
            <a:endParaRPr lang="en-US" sz="8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9–45 candidate body predicates per target after filtering</a:t>
            </a:r>
            <a:endParaRPr lang="en-US" sz="8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Removed: vs, appears_in, player_of (3 irrelevant predicates per §4.1)</a:t>
            </a:r>
            <a:endParaRPr lang="en-US" sz="8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rule_search.py → preprocess_relations(), REMOVAL_PREDICATES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4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E9C4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00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Success: Does the Reproduced System Match the Paper?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6032" y="868680"/>
            <a:ext cx="2743200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2"/>
            </a:solidFill>
            <a:prstDash val="solid"/>
          </a:ln>
          <a:effectLst>
            <a:outerShdw blurRad="101600" dist="25400" dir="8100000" algn="bl" rotWithShape="0">
              <a:srgbClr val="1A2D3A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868680"/>
            <a:ext cx="64008" cy="2834640"/>
          </a:xfrm>
          <a:prstGeom prst="rect">
            <a:avLst/>
          </a:prstGeom>
          <a:solidFill>
            <a:srgbClr val="2A9D8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0624" y="960120"/>
            <a:ext cx="250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Improvement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0624" y="1252728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RuAG boost is consistent with paper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20624" y="1563624"/>
            <a:ext cx="2414016" cy="0"/>
          </a:xfrm>
          <a:prstGeom prst="line">
            <a:avLst/>
          </a:prstGeom>
          <a:noFill/>
          <a:ln w="6350">
            <a:solidFill>
              <a:srgbClr val="E0EAEE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74904" y="1618488"/>
          <a:ext cx="2542032" cy="1024128"/>
        </p:xfrm>
        <a:graphic>
          <a:graphicData uri="http://schemas.openxmlformats.org/drawingml/2006/table">
            <a:tbl>
              <a:tblPr/>
              <a:tblGrid>
                <a:gridCol w="12710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10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RuAG F1 Δ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A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Paper: GPT-3.5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+7.69%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A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Ours: Mistral Small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+8.49% 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A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Paper: GPT-4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+13.48%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3246120" y="868680"/>
            <a:ext cx="2743200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2"/>
            </a:solidFill>
            <a:prstDash val="solid"/>
          </a:ln>
          <a:effectLst>
            <a:outerShdw blurRad="101600" dist="25400" dir="8100000" algn="bl" rotWithShape="0">
              <a:srgbClr val="1A2D3A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46120" y="868680"/>
            <a:ext cx="64008" cy="2834640"/>
          </a:xfrm>
          <a:prstGeom prst="rect">
            <a:avLst/>
          </a:prstGeom>
          <a:solidFill>
            <a:srgbClr val="E76F5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410712" y="960120"/>
            <a:ext cx="250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Precision–Recall Trade-off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410712" y="1252728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pattern: recall boost, precision dip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3410712" y="1563624"/>
            <a:ext cx="2414016" cy="0"/>
          </a:xfrm>
          <a:prstGeom prst="line">
            <a:avLst/>
          </a:prstGeom>
          <a:noFill/>
          <a:ln w="6350">
            <a:solidFill>
              <a:srgbClr val="E0EAEE"/>
            </a:solidFill>
            <a:prstDash val="solid"/>
          </a:ln>
        </p:spPr>
      </p:sp>
      <p:graphicFrame>
        <p:nvGraphicFramePr>
          <p:cNvPr id="16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364992" y="1618488"/>
          <a:ext cx="2542032" cy="877824"/>
        </p:xfrm>
        <a:graphic>
          <a:graphicData uri="http://schemas.openxmlformats.org/drawingml/2006/table">
            <a:tbl>
              <a:tblPr/>
              <a:tblGrid>
                <a:gridCol w="8473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73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73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6F5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 Δ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6F5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 Δ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6F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A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Paper: GPT-4 RuAG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−8.33%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+24.16%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A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Ours: RuAG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−8.43%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+16.52%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Shape 13"/>
          <p:cNvSpPr/>
          <p:nvPr/>
        </p:nvSpPr>
        <p:spPr>
          <a:xfrm>
            <a:off x="6236208" y="868680"/>
            <a:ext cx="2743200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2"/>
            </a:solidFill>
            <a:prstDash val="solid"/>
          </a:ln>
          <a:effectLst>
            <a:outerShdw blurRad="101600" dist="25400" dir="8100000" algn="bl" rotWithShape="0">
              <a:srgbClr val="1A2D3A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236208" y="868680"/>
            <a:ext cx="64008" cy="2834640"/>
          </a:xfrm>
          <a:prstGeom prst="rect">
            <a:avLst/>
          </a:prstGeom>
          <a:solidFill>
            <a:srgbClr val="6C7E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400800" y="960120"/>
            <a:ext cx="250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F1 Gap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6400800" y="1252728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model → lower absolute score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6400800" y="1563624"/>
            <a:ext cx="2414016" cy="0"/>
          </a:xfrm>
          <a:prstGeom prst="line">
            <a:avLst/>
          </a:prstGeom>
          <a:noFill/>
          <a:ln w="6350">
            <a:solidFill>
              <a:srgbClr val="E0EAEE"/>
            </a:solidFill>
            <a:prstDash val="solid"/>
          </a:ln>
        </p:spPr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1618488"/>
          <a:ext cx="2542032" cy="1024128"/>
        </p:xfrm>
        <a:graphic>
          <a:graphicData uri="http://schemas.openxmlformats.org/drawingml/2006/table">
            <a:tbl>
              <a:tblPr/>
              <a:tblGrid>
                <a:gridCol w="12710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10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7E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RuAG F1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7E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A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Paper: GPT-4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60.42%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A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Ours: Mistral Small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51.82%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A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−8.60%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3" name="Shape 18"/>
          <p:cNvSpPr/>
          <p:nvPr/>
        </p:nvSpPr>
        <p:spPr>
          <a:xfrm>
            <a:off x="256032" y="3840480"/>
            <a:ext cx="5303520" cy="1005840"/>
          </a:xfrm>
          <a:prstGeom prst="rect">
            <a:avLst/>
          </a:prstGeom>
          <a:solidFill>
            <a:srgbClr val="E3F2F0"/>
          </a:solidFill>
          <a:ln w="6350">
            <a:solidFill>
              <a:srgbClr val="AADDD7"/>
            </a:solidFill>
            <a:prstDash val="solid"/>
          </a:ln>
          <a:effectLst>
            <a:outerShdw blurRad="101600" dist="25400" dir="8100000" algn="bl" rotWithShape="0">
              <a:srgbClr val="1A2D3A">
                <a:alpha val="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256032" y="3840480"/>
            <a:ext cx="64008" cy="1005840"/>
          </a:xfrm>
          <a:prstGeom prst="rect">
            <a:avLst/>
          </a:prstGeom>
          <a:solidFill>
            <a:srgbClr val="2A9D8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420624" y="39044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420624" y="4169664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F1 is lower due to model size (Mistral 24B vs GPT-4), but relative improvement (+8.49%) validates our MCTS implementation. Trend consistency confirmed: massive recall boost (+16.52%) with minor precision trade-off (−8.43%).</a:t>
            </a:r>
            <a:endParaRPr lang="en-US" sz="850" dirty="0"/>
          </a:p>
        </p:txBody>
      </p:sp>
      <p:sp>
        <p:nvSpPr>
          <p:cNvPr id="27" name="Shape 22"/>
          <p:cNvSpPr/>
          <p:nvPr/>
        </p:nvSpPr>
        <p:spPr>
          <a:xfrm>
            <a:off x="5833872" y="3840480"/>
            <a:ext cx="3063240" cy="1005840"/>
          </a:xfrm>
          <a:prstGeom prst="rect">
            <a:avLst/>
          </a:prstGeom>
          <a:solidFill>
            <a:srgbClr val="FFF9EB"/>
          </a:solidFill>
          <a:ln w="6350">
            <a:solidFill>
              <a:srgbClr val="F0D9A0"/>
            </a:solidFill>
            <a:prstDash val="solid"/>
          </a:ln>
          <a:effectLst>
            <a:outerShdw blurRad="101600" dist="25400" dir="8100000" algn="bl" rotWithShape="0">
              <a:srgbClr val="1A2D3A">
                <a:alpha val="8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5833872" y="3840480"/>
            <a:ext cx="64008" cy="1005840"/>
          </a:xfrm>
          <a:prstGeom prst="rect">
            <a:avLst/>
          </a:prstGeom>
          <a:solidFill>
            <a:srgbClr val="E9C4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5998464" y="390448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Rule Discovered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5998464" y="4187952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head_of_state → citizen_of</a:t>
            </a:r>
            <a:r>
              <a:rPr lang="en-US" sz="8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(96.89% precision)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this rule alone bridged the gap for citizen_of relation.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4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1371600"/>
            <a:ext cx="3657600" cy="3657600"/>
          </a:xfrm>
          <a:prstGeom prst="ellipse">
            <a:avLst/>
          </a:prstGeom>
          <a:solidFill>
            <a:srgbClr val="2A9D8F">
              <a:alpha val="1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4389120"/>
            <a:ext cx="2743200" cy="2743200"/>
          </a:xfrm>
          <a:prstGeom prst="ellipse">
            <a:avLst/>
          </a:prstGeom>
          <a:solidFill>
            <a:srgbClr val="E9C46A">
              <a:alpha val="2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1463040"/>
          </a:xfrm>
          <a:prstGeom prst="rect">
            <a:avLst/>
          </a:prstGeom>
          <a:solidFill>
            <a:srgbClr val="E9C4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Insights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84048" y="685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B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Reproducer's Checklist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84048" y="1170432"/>
            <a:ext cx="8321040" cy="0"/>
          </a:xfrm>
          <a:prstGeom prst="line">
            <a:avLst/>
          </a:prstGeom>
          <a:noFill/>
          <a:ln w="6350">
            <a:solidFill>
              <a:srgbClr val="2A5A7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298448"/>
            <a:ext cx="8503920" cy="502920"/>
          </a:xfrm>
          <a:prstGeom prst="rect">
            <a:avLst/>
          </a:prstGeom>
          <a:solidFill>
            <a:srgbClr val="2A9D8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31673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Reproduction confirms: explicit logic rules are a powerful, model-agnostic way to improve LLM performance without fine-tuning.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1920240"/>
            <a:ext cx="4160520" cy="1005840"/>
          </a:xfrm>
          <a:prstGeom prst="rect">
            <a:avLst/>
          </a:prstGeom>
          <a:solidFill>
            <a:srgbClr val="16263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1920240"/>
            <a:ext cx="64008" cy="1005840"/>
          </a:xfrm>
          <a:prstGeom prst="rect">
            <a:avLst/>
          </a:prstGeom>
          <a:solidFill>
            <a:srgbClr val="2A9D8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984248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Constraints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2249424"/>
            <a:ext cx="39044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B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predicate filtering (Appendix A5), MCTS is infeasible on real datasets — exponential search time.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709160" y="1920240"/>
            <a:ext cx="4160520" cy="1005840"/>
          </a:xfrm>
          <a:prstGeom prst="rect">
            <a:avLst/>
          </a:prstGeom>
          <a:solidFill>
            <a:srgbClr val="16263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09160" y="1920240"/>
            <a:ext cx="64008" cy="1005840"/>
          </a:xfrm>
          <a:prstGeom prst="rect">
            <a:avLst/>
          </a:prstGeom>
          <a:solidFill>
            <a:srgbClr val="E9C4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1984248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Matters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92040" y="2249424"/>
            <a:ext cx="39044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B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is superior to JSON files for managing the lifecycle of discovered rules. Persistence saved the run when the network dropped at doc 65.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20040" y="3108960"/>
            <a:ext cx="4160520" cy="1005840"/>
          </a:xfrm>
          <a:prstGeom prst="rect">
            <a:avLst/>
          </a:prstGeom>
          <a:solidFill>
            <a:srgbClr val="16263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108960"/>
            <a:ext cx="64008" cy="1005840"/>
          </a:xfrm>
          <a:prstGeom prst="rect">
            <a:avLst/>
          </a:prstGeom>
          <a:solidFill>
            <a:srgbClr val="E76F5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172968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Fidelity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" y="3438144"/>
            <a:ext cx="39044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B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Adapting Figure A1 prompt for Mistral Small was the most critical step — exact entity names, -x variants, and few-shot examples all mattered.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709160" y="3108960"/>
            <a:ext cx="4160520" cy="1005840"/>
          </a:xfrm>
          <a:prstGeom prst="rect">
            <a:avLst/>
          </a:prstGeom>
          <a:solidFill>
            <a:srgbClr val="16263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09160" y="3108960"/>
            <a:ext cx="64008" cy="1005840"/>
          </a:xfrm>
          <a:prstGeom prst="rect">
            <a:avLst/>
          </a:prstGeom>
          <a:solidFill>
            <a:srgbClr val="6C7E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3172968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C7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92040" y="3438144"/>
            <a:ext cx="39044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B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validated the RuAG methodology: Search + Generation is a reliable path to high-quality Relation Extraction, even with smaller open-source models.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84048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RuAG · ICLR 2025 Reproduction · Mistral Small 24B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880</Words>
  <Application>Microsoft Office PowerPoint</Application>
  <PresentationFormat>全屏显示(16:9)</PresentationFormat>
  <Paragraphs>125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RuAG Reproduction</dc:title>
  <dc:subject>PptxGenJS Presentation</dc:subject>
  <dc:creator>PptxGenJS</dc:creator>
  <cp:lastModifiedBy>Zhenyu Dai</cp:lastModifiedBy>
  <cp:revision>2</cp:revision>
  <dcterms:created xsi:type="dcterms:W3CDTF">2026-02-24T01:36:34Z</dcterms:created>
  <dcterms:modified xsi:type="dcterms:W3CDTF">2026-02-24T01:48:25Z</dcterms:modified>
</cp:coreProperties>
</file>